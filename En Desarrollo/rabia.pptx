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Pulse para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desplazar la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diapositiva</a:t>
            </a:r>
            <a:endParaRPr b="0" lang="es-MX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de las </a:t>
            </a: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MX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D54F58-BA05-44F1-A840-36B33B1ED891}" type="slidenum">
              <a:rPr b="0" lang="es-MX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MX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A58A18-5952-4A53-BEB4-48B3547E3F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A72C11-FC4D-4A97-A6F6-BE8ABE5599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95C04-0697-47A3-ADA6-CB8182DC02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B3BA6-68EF-4CAE-94D6-16E5529DDF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46863D-7FAF-41B4-9DF7-784480A18C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287C29-5B1E-4468-8BCD-DC8981FA29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1487F6-CD35-471B-950A-CA19D2DBAC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B1A06-751D-4EC6-B41D-9144C63AD2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6E5520-8F77-4654-87A6-437259736B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339CB-4751-4CE7-A53E-1B3E616DAD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C71A2-5E68-4DEA-AED3-4C7CD54B26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B7A3E-96F3-4AB2-A6B7-99A152A6BD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DCCF2C-89FF-4791-842A-ECD86F0165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E120AB-C24F-4D74-82AA-8A61AABBCD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676249-BF6A-4A6F-953E-14A855FEE3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4EA2CE-AA7A-49C5-B98C-02257927C0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56C08-C013-43C6-86BD-D12C1BF11F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70DE8B-780E-4B05-9ED5-55A5ED6C4E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D18127-E4AE-4C20-923D-CED575D9A6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311857-2F96-4812-ADDE-B9FD64521D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Pulse para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editar el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formato del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texto de </a:t>
            </a:r>
            <a:r>
              <a:rPr b="0" lang="es-MX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es-MX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MX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MX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MX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MX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MX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MX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MX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30280" y="837360"/>
            <a:ext cx="808308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376"/>
              </a:lnSpc>
              <a:tabLst>
                <a:tab algn="l" pos="0"/>
              </a:tabLst>
            </a:pPr>
            <a:r>
              <a:rPr b="0" lang="en-US" sz="82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🦇</a:t>
            </a:r>
            <a:endParaRPr b="0" lang="es-MX" sz="8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30280" y="2561400"/>
            <a:ext cx="808308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7741"/>
              </a:lnSpc>
              <a:tabLst>
                <a:tab algn="l" pos="0"/>
              </a:tabLst>
            </a:pPr>
            <a:r>
              <a:rPr b="1" lang="en-US" sz="5160" spc="-1" strike="noStrike">
                <a:solidFill>
                  <a:srgbClr val="2e7d54"/>
                </a:solidFill>
                <a:latin typeface="DM Serif Display"/>
                <a:ea typeface="DM Serif Display"/>
              </a:rPr>
              <a:t>La Rabia</a:t>
            </a:r>
            <a:endParaRPr b="0" lang="es-MX" sz="5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30280" y="3658320"/>
            <a:ext cx="8083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f4f3f"/>
                </a:solidFill>
                <a:latin typeface="-apple-system"/>
                <a:ea typeface="-apple-system"/>
              </a:rPr>
              <a:t>Un modelo de enfermedad infecciosa en Medicina de Conservación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30280" y="4077720"/>
            <a:ext cx="808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Licenciatura en Ecología · Medicina de Conservación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614160" y="180000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71480" y="193536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1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4648320" y="177336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809960" y="193536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2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09480" y="263052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71480" y="279252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3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4648320" y="263052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809960" y="279252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4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09480" y="348804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9"/>
          <p:cNvSpPr/>
          <p:nvPr/>
        </p:nvSpPr>
        <p:spPr>
          <a:xfrm>
            <a:off x="771480" y="365004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5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648320" y="3488040"/>
            <a:ext cx="3885840" cy="704520"/>
          </a:xfrm>
          <a:prstGeom prst="roundRect">
            <a:avLst>
              <a:gd name="adj" fmla="val 155676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4809960" y="3650040"/>
            <a:ext cx="342720" cy="342720"/>
          </a:xfrm>
          <a:prstGeom prst="roundRect">
            <a:avLst>
              <a:gd name="adj" fmla="val 0"/>
            </a:avLst>
          </a:prstGeom>
          <a:solidFill>
            <a:srgbClr val="2e7d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-apple-system"/>
                <a:ea typeface="-apple-system"/>
              </a:rPr>
              <a:t>6</a:t>
            </a:r>
            <a:endParaRPr b="0" lang="es-MX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609480" y="950400"/>
            <a:ext cx="808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680"/>
              </a:lnSpc>
              <a:tabLst>
                <a:tab algn="l" pos="0"/>
              </a:tabLst>
            </a:pPr>
            <a:r>
              <a:rPr b="1" lang="en-US" sz="312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Contenido de la sesión</a:t>
            </a:r>
            <a:endParaRPr b="0" lang="es-MX" sz="3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1228680" y="1935360"/>
            <a:ext cx="3104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Morfología, biología molecular y taxonomía de los lyssavirus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5267160" y="1935360"/>
            <a:ext cx="2751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Taxonomía de los hospederos reservorios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1228680" y="2792520"/>
            <a:ext cx="3104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Patogénesis en hospederos silvestre, doméstico y humano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5267160" y="2792520"/>
            <a:ext cx="2733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Epidemiología global de la rabia humana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1228680" y="3650040"/>
            <a:ext cx="3008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Ecología de la rabia en hospederos silvestres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5267160" y="3650040"/>
            <a:ext cx="3104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Estrategias de prevención en conservación de fauna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724280" y="2196360"/>
            <a:ext cx="3809520" cy="1428480"/>
          </a:xfrm>
          <a:prstGeom prst="roundRect">
            <a:avLst>
              <a:gd name="adj" fmla="val 76800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1"/>
          <p:cNvSpPr/>
          <p:nvPr/>
        </p:nvSpPr>
        <p:spPr>
          <a:xfrm>
            <a:off x="609480" y="114120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Morfología del virión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609480" y="1819440"/>
            <a:ext cx="3809520" cy="21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709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1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Virión con forma de bala: ~100-300 nm de largo x ~75 nm de diámetro</a:t>
            </a:r>
            <a:endParaRPr b="0" lang="es-MX" sz="114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709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1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Envoltura lipídica derivada de la membrana del hospedero, con ~400 espículas triméricas de glicoproteína G</a:t>
            </a:r>
            <a:endParaRPr b="0" lang="es-MX" sz="114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709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1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Bajo la envoltura, capa de proteína matriz (M): asegura el ensamblaje y la forma de "bala"</a:t>
            </a:r>
            <a:endParaRPr b="0" lang="es-MX" sz="114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709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1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Núcleo: ribonucleocápside helicoidal (RNP) con el ARN genómico</a:t>
            </a:r>
            <a:endParaRPr b="0" lang="es-MX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4929120" y="2434320"/>
            <a:ext cx="3400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501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🧬</a:t>
            </a:r>
            <a:endParaRPr b="0" lang="es-MX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962600" y="3081960"/>
            <a:ext cx="3333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Rhabdoviridae: morfología bacilar/bala característica de todo el género </a:t>
            </a:r>
            <a:r>
              <a:rPr b="0" i="1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Lyssavirus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09480" y="2805840"/>
            <a:ext cx="1493280" cy="795960"/>
          </a:xfrm>
          <a:prstGeom prst="roundRect">
            <a:avLst>
              <a:gd name="adj" fmla="val 1378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1"/>
          <p:cNvSpPr/>
          <p:nvPr/>
        </p:nvSpPr>
        <p:spPr>
          <a:xfrm>
            <a:off x="2217240" y="2805840"/>
            <a:ext cx="1493280" cy="795960"/>
          </a:xfrm>
          <a:prstGeom prst="roundRect">
            <a:avLst>
              <a:gd name="adj" fmla="val 1378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2"/>
          <p:cNvSpPr/>
          <p:nvPr/>
        </p:nvSpPr>
        <p:spPr>
          <a:xfrm>
            <a:off x="3825360" y="2805840"/>
            <a:ext cx="1493280" cy="795960"/>
          </a:xfrm>
          <a:prstGeom prst="roundRect">
            <a:avLst>
              <a:gd name="adj" fmla="val 1378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3"/>
          <p:cNvSpPr/>
          <p:nvPr/>
        </p:nvSpPr>
        <p:spPr>
          <a:xfrm>
            <a:off x="5433120" y="2805840"/>
            <a:ext cx="1493280" cy="795960"/>
          </a:xfrm>
          <a:prstGeom prst="roundRect">
            <a:avLst>
              <a:gd name="adj" fmla="val 1378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Text 4"/>
          <p:cNvSpPr/>
          <p:nvPr/>
        </p:nvSpPr>
        <p:spPr>
          <a:xfrm>
            <a:off x="7040880" y="2805840"/>
            <a:ext cx="1493280" cy="795960"/>
          </a:xfrm>
          <a:prstGeom prst="roundRect">
            <a:avLst>
              <a:gd name="adj" fmla="val 1378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5"/>
          <p:cNvSpPr/>
          <p:nvPr/>
        </p:nvSpPr>
        <p:spPr>
          <a:xfrm>
            <a:off x="609480" y="154116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Genoma y biología molecular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609480" y="2219400"/>
            <a:ext cx="792432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09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Genoma de ARN monocatenario, no segmentado, de polaridad negativa, de ~11.9-12 kb, con 5 genes en orden conservado (3'→5').</a:t>
            </a:r>
            <a:endParaRPr b="0" lang="es-MX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721080" y="2929680"/>
            <a:ext cx="127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N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733320" y="3158280"/>
            <a:ext cx="124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Nucleoproteína: recubre el ARN</a:t>
            </a:r>
            <a:endParaRPr b="0" lang="es-MX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2328840" y="2929680"/>
            <a:ext cx="127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P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2341080" y="3158280"/>
            <a:ext cx="124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Fosfoproteína: cofactor de replicación</a:t>
            </a:r>
            <a:endParaRPr b="0" lang="es-MX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3936600" y="2929680"/>
            <a:ext cx="127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M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3948840" y="3158280"/>
            <a:ext cx="124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Matriz: ensamblaje y gemación</a:t>
            </a:r>
            <a:endParaRPr b="0" lang="es-MX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544360" y="2929680"/>
            <a:ext cx="127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G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5556960" y="3158280"/>
            <a:ext cx="124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Glicoproteína: unión al receptor celular</a:t>
            </a:r>
            <a:endParaRPr b="0" lang="es-MX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7152120" y="2929680"/>
            <a:ext cx="127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L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7164720" y="3158280"/>
            <a:ext cx="124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Polimerasa viral ARN-dependiente</a:t>
            </a:r>
            <a:endParaRPr b="0" lang="es-MX" sz="8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609480" y="2747880"/>
            <a:ext cx="2539440" cy="889560"/>
          </a:xfrm>
          <a:prstGeom prst="roundRect">
            <a:avLst>
              <a:gd name="adj" fmla="val 1232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301920" y="2747880"/>
            <a:ext cx="2539800" cy="889560"/>
          </a:xfrm>
          <a:prstGeom prst="roundRect">
            <a:avLst>
              <a:gd name="adj" fmla="val 1232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2"/>
          <p:cNvSpPr/>
          <p:nvPr/>
        </p:nvSpPr>
        <p:spPr>
          <a:xfrm>
            <a:off x="5994360" y="2747880"/>
            <a:ext cx="2539440" cy="889560"/>
          </a:xfrm>
          <a:prstGeom prst="roundRect">
            <a:avLst>
              <a:gd name="adj" fmla="val 1232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Text 3"/>
          <p:cNvSpPr/>
          <p:nvPr/>
        </p:nvSpPr>
        <p:spPr>
          <a:xfrm>
            <a:off x="609480" y="15055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Taxonomía del género </a:t>
            </a:r>
            <a:r>
              <a:rPr b="1" i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Lyssavirus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609480" y="2183760"/>
            <a:ext cx="792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Orden </a:t>
            </a:r>
            <a:r>
              <a:rPr b="0" i="1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Mononegavirales</a:t>
            </a:r>
            <a:r>
              <a:rPr b="0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 → familia </a:t>
            </a:r>
            <a:r>
              <a:rPr b="0" i="1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Rhabdoviridae</a:t>
            </a:r>
            <a:r>
              <a:rPr b="0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 → género </a:t>
            </a:r>
            <a:r>
              <a:rPr b="0" i="1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Lyssavirus</a:t>
            </a:r>
            <a:r>
              <a:rPr b="0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: 17-18 especies reconocidas por el ICTV, agrupadas en 3 filogrupos según distancia genética y patrón antigénico.</a:t>
            </a:r>
            <a:endParaRPr b="0" lang="es-MX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800280" y="2900160"/>
            <a:ext cx="2240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Filogrupo I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800280" y="3128760"/>
            <a:ext cx="2196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RABV, EBLV-1/2, DUVV, ABLV, ARAV, KHUV, IRKV, BBLV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3492360" y="2900160"/>
            <a:ext cx="2240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Filogrupo II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492360" y="3128760"/>
            <a:ext cx="2196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Lagos bat virus, Mokola virus, Shimoni bat virus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184800" y="2900160"/>
            <a:ext cx="2240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Filogrupo III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6184800" y="3128760"/>
            <a:ext cx="2196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West Caucasian bat virus, Ikoma, Lleida bat lyssavirus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09480" y="1863360"/>
            <a:ext cx="3885840" cy="879480"/>
          </a:xfrm>
          <a:prstGeom prst="roundRect">
            <a:avLst>
              <a:gd name="adj" fmla="val 1247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648320" y="1863360"/>
            <a:ext cx="3885840" cy="879480"/>
          </a:xfrm>
          <a:prstGeom prst="roundRect">
            <a:avLst>
              <a:gd name="adj" fmla="val 12470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2"/>
          <p:cNvSpPr/>
          <p:nvPr/>
        </p:nvSpPr>
        <p:spPr>
          <a:xfrm>
            <a:off x="609480" y="2895480"/>
            <a:ext cx="3885840" cy="1062360"/>
          </a:xfrm>
          <a:prstGeom prst="roundRect">
            <a:avLst>
              <a:gd name="adj" fmla="val 103260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648320" y="2895480"/>
            <a:ext cx="3885840" cy="1062360"/>
          </a:xfrm>
          <a:prstGeom prst="roundRect">
            <a:avLst>
              <a:gd name="adj" fmla="val 103260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09480" y="11851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Diversidad global de los lyssavirus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771480" y="202536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RABV (Rabies lyssavirus)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771480" y="2215800"/>
            <a:ext cx="356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Único con distribución mundial; único que se mantiene en carnívoros terrestres y en murciélagos (Américas)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809960" y="202536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Lyssavirus de murciélagos del Viejo Mundo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4809960" y="2215800"/>
            <a:ext cx="356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EBLV-1/2, BBLV, ARAV, KHUV (Europa/Asia central), DUVV, LBV, MOKV, SHIBV, IKOV (África)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771480" y="305748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ABLV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771480" y="3247920"/>
            <a:ext cx="356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Australia; murciélagos frugívoros e insectívoros (Pteropus, Saccolaimus)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4809960" y="305748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14 de 16-18 especies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4809960" y="3247920"/>
            <a:ext cx="3561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Tienen a los quirópteros como hospedero reservorio ancestral; solo MOKV e IKOV carecen de reservorio confirmado en murciélagos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609480" y="2428920"/>
            <a:ext cx="3885840" cy="1321200"/>
          </a:xfrm>
          <a:prstGeom prst="roundRect">
            <a:avLst>
              <a:gd name="adj" fmla="val 83027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648320" y="2428920"/>
            <a:ext cx="3885840" cy="1321200"/>
          </a:xfrm>
          <a:prstGeom prst="roundRect">
            <a:avLst>
              <a:gd name="adj" fmla="val 83027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Text 2"/>
          <p:cNvSpPr/>
          <p:nvPr/>
        </p:nvSpPr>
        <p:spPr>
          <a:xfrm>
            <a:off x="609480" y="139284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Taxonomía de hospederos reservorios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609480" y="2070720"/>
            <a:ext cx="8083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Dos órdenes mamíferos concentran la mantención global del virus: Chiroptera (murciélagos) y Carnivora.</a:t>
            </a:r>
            <a:endParaRPr b="0" lang="es-MX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771480" y="2590920"/>
            <a:ext cx="363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Orden Chiroptera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771480" y="2857680"/>
            <a:ext cx="3561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Suborden Yinpterochiroptera (Rhinolophoidea, Pteropodidae) y Yangochiroptera (Vespertilionoidea, Emballonuroidea, Noctilionoidea). Reservorio ancestral de casi todas las especies de lyssavirus.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4809960" y="2590920"/>
            <a:ext cx="363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Orden Carnivora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4809960" y="2857680"/>
            <a:ext cx="3561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Familias Canidae (perro, zorro, coyote, lobo), Procyonidae (mapache), Mustelidae (mofeta), Herpestidae (mangosta): reservorios terrestres de RABV.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609480" y="2206080"/>
            <a:ext cx="2539440" cy="1409400"/>
          </a:xfrm>
          <a:prstGeom prst="roundRect">
            <a:avLst>
              <a:gd name="adj" fmla="val 7783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1"/>
          <p:cNvSpPr/>
          <p:nvPr/>
        </p:nvSpPr>
        <p:spPr>
          <a:xfrm>
            <a:off x="3301920" y="2206080"/>
            <a:ext cx="2539800" cy="1409400"/>
          </a:xfrm>
          <a:prstGeom prst="roundRect">
            <a:avLst>
              <a:gd name="adj" fmla="val 7783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 2"/>
          <p:cNvSpPr/>
          <p:nvPr/>
        </p:nvSpPr>
        <p:spPr>
          <a:xfrm>
            <a:off x="5994360" y="2206080"/>
            <a:ext cx="2539440" cy="1409400"/>
          </a:xfrm>
          <a:prstGeom prst="roundRect">
            <a:avLst>
              <a:gd name="adj" fmla="val 7783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Text 3"/>
          <p:cNvSpPr/>
          <p:nvPr/>
        </p:nvSpPr>
        <p:spPr>
          <a:xfrm>
            <a:off x="609480" y="152784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Reservorios por región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49520" y="2367720"/>
            <a:ext cx="2260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🦝</a:t>
            </a:r>
            <a:endParaRPr b="0" lang="es-MX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749520" y="27489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Norteamérica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771480" y="2939400"/>
            <a:ext cx="221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Mapache, mofeta, zorro rojo/ártico, coyote, murciélagos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3441600" y="2367720"/>
            <a:ext cx="2260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🦊</a:t>
            </a:r>
            <a:endParaRPr b="0" lang="es-MX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3441600" y="27489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Europa/Eurasia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3463920" y="2939400"/>
            <a:ext cx="221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Zorro rojo, perro mapache, tejón euroasiático, lobo gris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6134040" y="2367720"/>
            <a:ext cx="2260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2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🦇</a:t>
            </a:r>
            <a:endParaRPr b="0" lang="es-MX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6134040" y="27489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Sudamérica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6156360" y="2939400"/>
            <a:ext cx="22158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Perro doméstico, murciélagos insectívoros y hematófagos (</a:t>
            </a:r>
            <a:r>
              <a:rPr b="0" i="1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Desmodus rotundus</a:t>
            </a: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)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09480" y="1893600"/>
            <a:ext cx="7924320" cy="422640"/>
          </a:xfrm>
          <a:prstGeom prst="roundRect">
            <a:avLst>
              <a:gd name="adj" fmla="val 259514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09480" y="2430720"/>
            <a:ext cx="7924320" cy="422640"/>
          </a:xfrm>
          <a:prstGeom prst="roundRect">
            <a:avLst>
              <a:gd name="adj" fmla="val 259514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609480" y="2967840"/>
            <a:ext cx="7924320" cy="422640"/>
          </a:xfrm>
          <a:prstGeom prst="roundRect">
            <a:avLst>
              <a:gd name="adj" fmla="val 259514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609480" y="3504960"/>
            <a:ext cx="7924320" cy="422640"/>
          </a:xfrm>
          <a:prstGeom prst="roundRect">
            <a:avLst>
              <a:gd name="adj" fmla="val 259514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609480" y="12157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Patogénesis general: la vía centrípeta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762120" y="2008080"/>
            <a:ext cx="78109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1. Inoculación:</a:t>
            </a:r>
            <a:r>
              <a:rPr b="0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saliva infectada entra por mordedura; replicación local en miocitos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762120" y="2545200"/>
            <a:ext cx="78109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2. Entrada neuronal:</a:t>
            </a:r>
            <a:r>
              <a:rPr b="0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virus alcanza terminaciones nerviosas periféricas vía receptores de glicoproteína G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762120" y="3082320"/>
            <a:ext cx="78109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3. Transporte axonal retrógrado:</a:t>
            </a:r>
            <a:r>
              <a:rPr b="0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12-100 mm/día hasta médula espinal y cerebro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762120" y="3619440"/>
            <a:ext cx="78109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4. Diseminación centrífuga:</a:t>
            </a:r>
            <a:r>
              <a:rPr b="0" lang="en-US" sz="102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del SNC hacia glándulas salivales, asegurando la transmisión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609480" y="2328120"/>
            <a:ext cx="3885840" cy="1172880"/>
          </a:xfrm>
          <a:prstGeom prst="roundRect">
            <a:avLst>
              <a:gd name="adj" fmla="val 9352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4648320" y="2328120"/>
            <a:ext cx="3885840" cy="1172880"/>
          </a:xfrm>
          <a:prstGeom prst="roundRect">
            <a:avLst>
              <a:gd name="adj" fmla="val 9352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609480" y="1124280"/>
            <a:ext cx="79243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Patogénesis en un hospedero silvestre (mapache/murciélago)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771480" y="2489760"/>
            <a:ext cx="363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Incubación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771480" y="2756520"/>
            <a:ext cx="3561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Prolongada y variable: semanas hasta 6-12 meses; excreción viral en saliva puede iniciar semanas antes de signos clínicos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809960" y="2489760"/>
            <a:ext cx="3633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Signos y desenlace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4809960" y="2756520"/>
            <a:ext cx="3561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Cambios de comportamiento (pérdida de miedo, actividad diurna en especies nocturnas), agresividad, parálisis; muerte en ~10 días tras inicio de signos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609480" y="3653640"/>
            <a:ext cx="792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6b7d68"/>
                </a:solidFill>
                <a:latin typeface="-apple-system"/>
                <a:ea typeface="-apple-system"/>
              </a:rPr>
              <a:t>La transmisión vertical (madre-cría) y por contacto social (acicalamiento, mordidas intraespecíficas) puede sostener la circulación viral en colonias.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609480" y="2122560"/>
            <a:ext cx="25394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3301920" y="2122560"/>
            <a:ext cx="253980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994360" y="2122560"/>
            <a:ext cx="25394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609480" y="14443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Patogénesis en el hospedero doméstico (perro)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771480" y="228420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Fase prodrómica (1-3 días)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771480" y="2475000"/>
            <a:ext cx="22158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Cambio sutil de conducta, fiebre, anorexia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3463920" y="228420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Fase furiosa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3463920" y="2475000"/>
            <a:ext cx="221580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Agresividad, hiperexcitabilidad, ataques sin provocación, hipersalivación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156360" y="228420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Fase paralítica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6156360" y="2475000"/>
            <a:ext cx="221580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Parálisis ascendente, disfagia, muerte por falla respiratoria (21-80 días desde exposición)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609480" y="3324240"/>
            <a:ext cx="7924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El perro (</a:t>
            </a:r>
            <a:r>
              <a:rPr b="0" i="1" lang="en-US" sz="9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Canis familiaris</a:t>
            </a:r>
            <a:r>
              <a:rPr b="0" lang="en-US" sz="9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) es el reservorio y vector principal de la rabia humana a nivel mundial, responsable del 99% de los casos.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609480" y="2210040"/>
            <a:ext cx="3885840" cy="860400"/>
          </a:xfrm>
          <a:prstGeom prst="roundRect">
            <a:avLst>
              <a:gd name="adj" fmla="val 127469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648320" y="2210040"/>
            <a:ext cx="3885840" cy="860400"/>
          </a:xfrm>
          <a:prstGeom prst="roundRect">
            <a:avLst>
              <a:gd name="adj" fmla="val 127469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609480" y="153180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Patogénesis en humanos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800280" y="2362320"/>
            <a:ext cx="3613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Rabia furiosa (~2/3 de casos)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800280" y="2552760"/>
            <a:ext cx="354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Hidrofobia, aerofobia, espasmos faríngeos, hiperactividad, alucinaciones; muerte en 2-7 días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4838760" y="2362320"/>
            <a:ext cx="3613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Rabia paralítica ("muda")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4838760" y="2552760"/>
            <a:ext cx="354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3f4f3f"/>
                </a:solidFill>
                <a:latin typeface="-apple-system"/>
                <a:ea typeface="-apple-system"/>
              </a:rPr>
              <a:t>Parálisis flácida ascendente, similar a Guillain-Barré; curso más prolongado (hasta 30 días)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609480" y="3223080"/>
            <a:ext cx="792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1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Incubación de 20-90 días (rango de 9 días a &gt;8 años) según sitio de inoculación, carga viral e inervación local; la enfermedad clínica es prácticamente 100% letal sin profilaxis previa.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609480" y="2161440"/>
            <a:ext cx="2539440" cy="971280"/>
          </a:xfrm>
          <a:prstGeom prst="roundRect">
            <a:avLst>
              <a:gd name="adj" fmla="val 112941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3301920" y="2161440"/>
            <a:ext cx="2539800" cy="971280"/>
          </a:xfrm>
          <a:prstGeom prst="roundRect">
            <a:avLst>
              <a:gd name="adj" fmla="val 112941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994360" y="2161440"/>
            <a:ext cx="2539440" cy="971280"/>
          </a:xfrm>
          <a:prstGeom prst="roundRect">
            <a:avLst>
              <a:gd name="adj" fmla="val 112941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609480" y="148320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Situación epidemiológica global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749520" y="2323080"/>
            <a:ext cx="2260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~59,000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771480" y="2628000"/>
            <a:ext cx="221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muertes humanas/año por rabia transmitida por perros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3441600" y="2323080"/>
            <a:ext cx="2260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95%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3441600" y="2628000"/>
            <a:ext cx="2260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de las muertes ocurre en África y Asia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6134040" y="2323080"/>
            <a:ext cx="2260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7d54"/>
                </a:solidFill>
                <a:latin typeface="-apple-system"/>
                <a:ea typeface="-apple-system"/>
              </a:rPr>
              <a:t>99%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6156360" y="2628000"/>
            <a:ext cx="221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d68"/>
                </a:solidFill>
                <a:latin typeface="-apple-system"/>
                <a:ea typeface="-apple-system"/>
              </a:rPr>
              <a:t>de los casos humanos son transmitidos por perros</a:t>
            </a:r>
            <a:endParaRPr b="0" lang="es-MX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609480" y="3285360"/>
            <a:ext cx="7924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Solo México ha sido validado por la OMS (2023) como país libre de rabia transmitida por perro como problema de salud pública, tras &gt;24 meses sin muertes humanas asociadas.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609480" y="187452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4648320" y="187452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609480" y="2898000"/>
            <a:ext cx="38858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4648320" y="2898000"/>
            <a:ext cx="38858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609480" y="119628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Causas de la variación epidemiológica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771480" y="203652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Cobertura de vacunación canina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71480" y="222696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Programas sostenidos de vacunación masiva (≥70%) eliminan el ciclo canino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4809960" y="203652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Acceso a profilaxis post-exposición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4809960" y="222696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Escasez de vacuna/inmunoglobulina en zonas rurales pobres de África/Asia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771480" y="305964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Presencia de perros callejeros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771480" y="325008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Poblaciones caninas no controladas mantienen el reservorio doméstico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4809960" y="305964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Reservorios silvestres locales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4809960" y="3250080"/>
            <a:ext cx="356184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Zorros (Europa), murciélagos (América), mangostas/chacales (África) mantienen ciclos independientes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ttps://upload.wikimedia.org/wikipedia/commons/3/32/Desmodus_rotundus_A_Catenazzi.jpg"/>
          <p:cNvPicPr/>
          <p:nvPr/>
        </p:nvPicPr>
        <p:blipFill>
          <a:blip r:embed="rId1"/>
          <a:stretch/>
        </p:blipFill>
        <p:spPr>
          <a:xfrm>
            <a:off x="5508720" y="1863000"/>
            <a:ext cx="2202840" cy="209484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609480" y="11851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Ecología de la rabia en fauna silvestre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09480" y="1922400"/>
            <a:ext cx="3847680" cy="19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531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Mantenimiento independiente por variantes virales asociadas a especie hospedera específica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531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Densidad poblacional del hospedero determina la persistencia (umbral epizoótico)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531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Contacto intraespecífico (peleas, acicalamiento) y transmisión vertical sostienen circulación en colonias de murciélagos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ts val="1531"/>
              </a:lnSpc>
              <a:buClr>
                <a:srgbClr val="3f4f3f"/>
              </a:buClr>
              <a:buFont typeface="Symbol" charset="2"/>
              <a:buChar char=""/>
            </a:pPr>
            <a:r>
              <a:rPr b="0" lang="en-US" sz="102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Eventos de "spillover" hacia especies no reservorio ocurren pero rara vez se establecen</a:t>
            </a:r>
            <a:endParaRPr b="0" lang="es-MX" sz="1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609480" y="2385360"/>
            <a:ext cx="25394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3301920" y="2385360"/>
            <a:ext cx="253980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994360" y="2385360"/>
            <a:ext cx="2539440" cy="1049040"/>
          </a:xfrm>
          <a:prstGeom prst="roundRect">
            <a:avLst>
              <a:gd name="adj" fmla="val 104579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609480" y="1181520"/>
            <a:ext cx="79243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Ecología del murciélago vampiro (</a:t>
            </a:r>
            <a:r>
              <a:rPr b="1" i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Desmodus rotundus</a:t>
            </a: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)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749520" y="25473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Distribución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771480" y="2737800"/>
            <a:ext cx="22158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Favorece bajas altitudes; humedad alta facilita el roosting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3441600" y="25473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Alimentación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463920" y="2737800"/>
            <a:ext cx="221580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Hematofagia sobre ganado; contacto repetido facilita transmisión al hospedero doméstico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6134040" y="2547360"/>
            <a:ext cx="226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Estacionalidad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6156360" y="2737800"/>
            <a:ext cx="221580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Nacimientos en época de lluvias incrementan movilidad y contactos entre colonias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609480" y="3587040"/>
            <a:ext cx="7924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3f4f3f"/>
                </a:solidFill>
                <a:latin typeface="-apple-system"/>
                <a:ea typeface="-apple-system"/>
              </a:rPr>
              <a:t>Es el principal reservorio silvestre de rabia en Latinoamérica, generando pérdidas económicas al ganado y casos ocasionales en humanos en la cuenca amazónica.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609480" y="1947960"/>
            <a:ext cx="3847680" cy="898560"/>
          </a:xfrm>
          <a:prstGeom prst="roundRect">
            <a:avLst>
              <a:gd name="adj" fmla="val 122066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686480" y="1947960"/>
            <a:ext cx="3847680" cy="898560"/>
          </a:xfrm>
          <a:prstGeom prst="roundRect">
            <a:avLst>
              <a:gd name="adj" fmla="val 122066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4" name="Image 0" descr="https://upload.wikimedia.org/wikipedia/commons/e/e8/Ethiopian_wolf_%28Canis_simensis_citernii%29.jpg"/>
          <p:cNvPicPr/>
          <p:nvPr/>
        </p:nvPicPr>
        <p:blipFill>
          <a:blip r:embed="rId1"/>
          <a:stretch/>
        </p:blipFill>
        <p:spPr>
          <a:xfrm>
            <a:off x="3500280" y="2999160"/>
            <a:ext cx="2142720" cy="1428480"/>
          </a:xfrm>
          <a:prstGeom prst="rect">
            <a:avLst/>
          </a:prstGeom>
          <a:ln w="0">
            <a:noFill/>
          </a:ln>
        </p:spPr>
      </p:pic>
      <p:sp>
        <p:nvSpPr>
          <p:cNvPr id="175" name="Text 2"/>
          <p:cNvSpPr/>
          <p:nvPr/>
        </p:nvSpPr>
        <p:spPr>
          <a:xfrm>
            <a:off x="609480" y="71532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Rabia como amenaza de conservación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609480" y="1393560"/>
            <a:ext cx="7924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85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f4f3f"/>
                </a:solidFill>
                <a:latin typeface="-apple-system"/>
                <a:ea typeface="-apple-system"/>
              </a:rPr>
              <a:t>Se han reportado infecciones en 190 especies de mamíferos, incluyendo 16 con riesgo elevado de extinción; en dos, la rabia es amenaza directa de conservación.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800280" y="2100240"/>
            <a:ext cx="357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Lobo etíope (</a:t>
            </a:r>
            <a:r>
              <a:rPr b="1" i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Canis simensis</a:t>
            </a:r>
            <a:r>
              <a:rPr b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)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00280" y="2328840"/>
            <a:ext cx="350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6b7d68"/>
                </a:solidFill>
                <a:latin typeface="-apple-system"/>
                <a:ea typeface="-apple-system"/>
              </a:rPr>
              <a:t>~500 individuos; brotes recurrentes por spillover de perros domésticos en las Montañas Bale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876920" y="2100240"/>
            <a:ext cx="357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Perro salvaje africano (</a:t>
            </a:r>
            <a:r>
              <a:rPr b="1" i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Lycaon pictus</a:t>
            </a:r>
            <a:r>
              <a:rPr b="1" lang="en-US" sz="1200" spc="-1" strike="noStrike">
                <a:solidFill>
                  <a:srgbClr val="1a2b1e"/>
                </a:solidFill>
                <a:latin typeface="-apple-system"/>
                <a:ea typeface="-apple-system"/>
              </a:rPr>
              <a:t>)</a:t>
            </a:r>
            <a:endParaRPr b="0" lang="es-MX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4876920" y="2328840"/>
            <a:ext cx="350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6b7d68"/>
                </a:solidFill>
                <a:latin typeface="-apple-system"/>
                <a:ea typeface="-apple-system"/>
              </a:rPr>
              <a:t>Uno de los cánidos más amenazados; poblaciones pequeñas vulnerables a brotes por contacto con perros</a:t>
            </a:r>
            <a:endParaRPr b="0" lang="es-MX" sz="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609480" y="196380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4648320" y="196380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609480" y="298692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4648320" y="2986920"/>
            <a:ext cx="3885840" cy="870480"/>
          </a:xfrm>
          <a:prstGeom prst="roundRect">
            <a:avLst>
              <a:gd name="adj" fmla="val 125988"/>
            </a:avLst>
          </a:prstGeom>
          <a:solidFill>
            <a:srgbClr val="ffffff">
              <a:alpha val="75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609480" y="128556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Estrategias de prevención para conservación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771480" y="212544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Vacunación oral (ORV)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771480" y="231624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Cebos con vacuna SAG2 distribuidos vía aérea; exitosa en zorros/mapaches en Europa y Norteamérica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4809960" y="212544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Vacunación oral en especies amenazadas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4809960" y="231624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SAG2 en cebos de carne de cabra probado con éxito en lobos etíopes (Bale Mountains, desde 2016)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771480" y="314892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Vacunación parenteral reactiva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771480" y="333936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Captura y vacunación intramuscular de individuos ante brotes detectados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4809960" y="3148920"/>
            <a:ext cx="3633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54"/>
                </a:solidFill>
                <a:latin typeface="-apple-system"/>
                <a:ea typeface="-apple-system"/>
              </a:rPr>
              <a:t>Control del reservorio doméstico</a:t>
            </a:r>
            <a:endParaRPr b="0" lang="es-MX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4809960" y="3339360"/>
            <a:ext cx="3561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3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6b7d68"/>
                </a:solidFill>
                <a:latin typeface="-apple-system"/>
                <a:ea typeface="-apple-system"/>
              </a:rPr>
              <a:t>Vacunación masiva de perros y manejo de su movilidad para reducir el contacto con fauna silvestre</a:t>
            </a:r>
            <a:endParaRPr b="0" lang="es-MX" sz="9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609480" y="1813320"/>
            <a:ext cx="7924320" cy="415800"/>
          </a:xfrm>
          <a:prstGeom prst="roundRect">
            <a:avLst>
              <a:gd name="adj" fmla="val 2636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609480" y="2343600"/>
            <a:ext cx="7924320" cy="603360"/>
          </a:xfrm>
          <a:prstGeom prst="roundRect">
            <a:avLst>
              <a:gd name="adj" fmla="val 181775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609480" y="3061800"/>
            <a:ext cx="7924320" cy="415800"/>
          </a:xfrm>
          <a:prstGeom prst="roundRect">
            <a:avLst>
              <a:gd name="adj" fmla="val 2636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609480" y="3592080"/>
            <a:ext cx="7924320" cy="415800"/>
          </a:xfrm>
          <a:prstGeom prst="roundRect">
            <a:avLst>
              <a:gd name="adj" fmla="val 263691"/>
            </a:avLst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609480" y="1135440"/>
            <a:ext cx="8083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141"/>
              </a:lnSpc>
              <a:tabLst>
                <a:tab algn="l" pos="0"/>
              </a:tabLst>
            </a:pPr>
            <a:r>
              <a:rPr b="1" lang="en-US" sz="2760" spc="-1" strike="noStrike">
                <a:solidFill>
                  <a:srgbClr val="1a2b1e"/>
                </a:solidFill>
                <a:latin typeface="DM Serif Display"/>
                <a:ea typeface="DM Serif Display"/>
              </a:rPr>
              <a:t>Vigilancia, mitigación y educación</a:t>
            </a:r>
            <a:endParaRPr b="0" lang="es-MX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762120" y="1927800"/>
            <a:ext cx="781092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Vigilancia epidemiológica activa:</a:t>
            </a:r>
            <a:r>
              <a:rPr b="0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muestreo de fauna centinela y monitoreo genómico de variantes virales circulantes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762120" y="2458080"/>
            <a:ext cx="76579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Manejo del hábitat:</a:t>
            </a:r>
            <a:r>
              <a:rPr b="0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reducir la fragmentación que aumenta el contacto perro-fauna silvestre en zonas de amortiguamiento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762120" y="3175920"/>
            <a:ext cx="781092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Enfoque "Una Salud" (One Health):</a:t>
            </a:r>
            <a:r>
              <a:rPr b="0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integración de salud humana, animal y ambiental en el diseño de intervenciones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762120" y="3706560"/>
            <a:ext cx="781092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77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Educación comunitaria:</a:t>
            </a:r>
            <a:r>
              <a:rPr b="0" lang="en-US" sz="980" spc="-1" strike="noStrike">
                <a:solidFill>
                  <a:srgbClr val="1a2b1e"/>
                </a:solidFill>
                <a:latin typeface="-apple-system"/>
                <a:ea typeface="-apple-system"/>
              </a:rPr>
              <a:t> reducir tamaño y errancia de poblaciones caninas cerca de áreas protegidas</a:t>
            </a:r>
            <a:endParaRPr b="0" lang="es-MX" sz="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530280" y="835200"/>
            <a:ext cx="8083080" cy="12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0125"/>
              </a:lnSpc>
              <a:tabLst>
                <a:tab algn="l" pos="0"/>
              </a:tabLst>
            </a:pPr>
            <a:r>
              <a:rPr b="0" lang="en-US" sz="6750" spc="-1" strike="noStrike">
                <a:solidFill>
                  <a:srgbClr val="1a2b1e"/>
                </a:solidFill>
                <a:latin typeface="-apple-system"/>
                <a:ea typeface="-apple-system"/>
              </a:rPr>
              <a:t>🐺</a:t>
            </a:r>
            <a:endParaRPr b="0" lang="es-MX" sz="6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609480" y="2273760"/>
            <a:ext cx="7924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2e7d54"/>
                </a:solidFill>
                <a:latin typeface="DM Serif Display"/>
                <a:ea typeface="DM Serif Display"/>
              </a:rPr>
              <a:t>La rabia como paradigma en Medicina de Conservación</a:t>
            </a:r>
            <a:endParaRPr b="0" lang="es-MX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609480" y="3759480"/>
            <a:ext cx="792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440" spc="-1" strike="noStrike">
                <a:solidFill>
                  <a:srgbClr val="3f4f3f"/>
                </a:solidFill>
                <a:latin typeface="-apple-system"/>
                <a:ea typeface="-apple-system"/>
              </a:rPr>
              <a:t>Una sola enfermedad infecciosa ilustra la interacción entre virología, ecología de hospederos, salud pública y conservación de especies amenazadas.</a:t>
            </a:r>
            <a:endParaRPr b="0" lang="es-MX" sz="14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2026-09-11T15:26:02Z</dcterms:created>
  <dc:creator>Perplexity</dc:creator>
  <dc:description/>
  <dc:language>es-MX</dc:language>
  <cp:lastModifiedBy>Gerardo Martín</cp:lastModifiedBy>
  <dcterms:modified xsi:type="dcterms:W3CDTF">2026-09-14T13:51:51Z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